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" y="82296"/>
            <a:ext cx="12191695" cy="6858000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875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FFFFFF"/>
                </a:solidFill>
                <a:latin typeface="Arial"/>
              </a:rPr>
              <a:t>RAG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cho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chính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sách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RMIT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Việt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2E8F0"/>
                </a:solidFill>
                <a:latin typeface="Arial"/>
              </a:rPr>
              <a:t>Lab 7: Embedding, Vector Store, Chunking &amp; Retrieval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1" y="3995927"/>
            <a:ext cx="310896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2113" y="3995927"/>
            <a:ext cx="73152" cy="9601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7995" y="4123943"/>
            <a:ext cx="2724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 err="1">
                <a:solidFill>
                  <a:srgbClr val="17202A"/>
                </a:solidFill>
                <a:latin typeface="Arial"/>
              </a:rPr>
              <a:t>Dữ</a:t>
            </a:r>
            <a:r>
              <a:rPr sz="1400" b="1" dirty="0">
                <a:solidFill>
                  <a:srgbClr val="17202A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202A"/>
                </a:solidFill>
                <a:latin typeface="Arial"/>
              </a:rPr>
              <a:t>liệu</a:t>
            </a:r>
            <a:endParaRPr sz="1400" b="1" dirty="0">
              <a:solidFill>
                <a:srgbClr val="17202A"/>
              </a:solidFill>
              <a:latin typeface="Arial"/>
            </a:endParaRPr>
          </a:p>
          <a:p>
            <a:r>
              <a:rPr sz="1150" b="0" dirty="0">
                <a:solidFill>
                  <a:srgbClr val="2D3748"/>
                </a:solidFill>
                <a:latin typeface="Arial"/>
              </a:rPr>
              <a:t>7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tài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liệu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công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khai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từ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RMIT </a:t>
            </a:r>
            <a:r>
              <a:rPr sz="1150" b="0" dirty="0" err="1">
                <a:solidFill>
                  <a:srgbClr val="2D3748"/>
                </a:solidFill>
                <a:latin typeface="Arial"/>
              </a:rPr>
              <a:t>Việt</a:t>
            </a:r>
            <a:r>
              <a:rPr sz="1150" b="0" dirty="0">
                <a:solidFill>
                  <a:srgbClr val="2D3748"/>
                </a:solidFill>
                <a:latin typeface="Arial"/>
              </a:rPr>
              <a:t> Nam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977639"/>
            <a:ext cx="297180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3977639"/>
            <a:ext cx="73152" cy="96012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7" y="4123943"/>
            <a:ext cx="25877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Kết quả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42/42 tests, benchmark 10/10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Mục tiêu bài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Xây dựng pipeline truy xuất tri thức có kiểm thử và đánh giá rõ ràng.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8640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2D3748"/>
                </a:solidFill>
                <a:latin typeface="Arial"/>
              </a:rPr>
              <a:t>Thu thập và chuẩn hóa tài liệu chính sách/dịch vụ của RMIT Việt Nam.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D3748"/>
                </a:solidFill>
                <a:latin typeface="Arial"/>
              </a:rPr>
              <a:t>Tách văn bản thành chunk phù hợp để giữ ngữ cảnh và dễ truy xuất.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D3748"/>
                </a:solidFill>
                <a:latin typeface="Arial"/>
              </a:rPr>
              <a:t>Tạo embedding, lưu vào vector store và tìm top-k chunk liên quan.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D3748"/>
                </a:solidFill>
                <a:latin typeface="Arial"/>
              </a:rPr>
              <a:t>Xây agent trả lời chỉ dựa trên context truy xuất được.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D3748"/>
                </a:solidFill>
                <a:latin typeface="Arial"/>
              </a:rPr>
              <a:t>Đánh giá bằng test tự động, benchmark chiến lược chunking và Gemini embedding thật.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792224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7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tài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691640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792224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5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câu hỏi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691640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95560" y="1792224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42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71800"/>
            <a:ext cx="498348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2971800"/>
            <a:ext cx="73152" cy="14173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3118104"/>
            <a:ext cx="459943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Đầu ra chính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Một hệ thống RAG nhỏ có thể truy xuất nguồn, lọc metadata và trả lời câu hỏi về học phí, học bổng, khiếu nại, phúc lợi nhân viên.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Bộ dữ liệu RMIT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Corpus được crawl từ nguồn công khai, có metadata để lọc theo đối tượng.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5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81328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581912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1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81328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581912"/>
            <a:ext cx="13258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1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07492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Chủ đề: dịch vụ và chính sách đại học của RMIT Việt Nam.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Nhóm tài liệu: học phí, học phí đặc biệt, học bổng, hỗ trợ sinh viên, mốc thời gian, khiếu nại, phúc lợi nhân viên.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Mỗi tài liệu có doc_id, title, source_url, retrieved_at, audience, department, category,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08760"/>
            <a:ext cx="4983480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508760"/>
            <a:ext cx="73152" cy="10058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7688" y="1655064"/>
            <a:ext cx="4599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Vì sao chọn bộ này?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Nội dung có cấu trúc rõ, nhiều loại đối tượng và đủ câu hỏi kiểm chứng được.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743200"/>
            <a:ext cx="4983480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2743200"/>
            <a:ext cx="73152" cy="10058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2889504"/>
            <a:ext cx="4599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Giá trị của metadata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Giúp thu hẹp không gian tìm kiếm theo audience như student hoặc staff.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977639"/>
            <a:ext cx="4983480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3977639"/>
            <a:ext cx="73152" cy="100584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4123943"/>
            <a:ext cx="4599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Quản trị dữ liệu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Chỉ dùng nguồn công khai, không chứa dữ liệu cá nhân hoặc nội dung cần đăng nhập.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Pipeline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Từ URL công khai đến câu trả lời có thể truy vết nguồn.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1874519" cy="749808"/>
          </a:xfrm>
          <a:prstGeom prst="round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Crawl URL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42615" y="224942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98648" y="205740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Clean Markdown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2895" y="224942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38928" y="205740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Chunking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3175" y="224942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79208" y="205740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Embedding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63455" y="224942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19488" y="205740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Vector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40480"/>
            <a:ext cx="1874519" cy="749808"/>
          </a:xfrm>
          <a:prstGeom prst="round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Query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42615" y="403250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98648" y="384048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Filter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82895" y="403250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384048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Top-k Search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23175" y="403250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79208" y="384048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Context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63455" y="4032504"/>
            <a:ext cx="256032" cy="32918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19488" y="3840480"/>
            <a:ext cx="1874519" cy="749808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7202A"/>
                </a:solidFill>
                <a:latin typeface="Arial"/>
              </a:rPr>
              <a:t>Agent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</a:pPr>
            <a:r>
              <a:rPr sz="1350" b="0">
                <a:solidFill>
                  <a:srgbClr val="67748E"/>
                </a:solidFill>
                <a:latin typeface="Arial"/>
              </a:rPr>
              <a:t>Điểm quan trọng: lọc metadata trước khi tính similarity để tránh top-k bị chiếm bởi tài liệu sai đối tượng.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67748E"/>
                </a:solidFill>
                <a:latin typeface="Arial"/>
              </a:rPr>
              <a:t>Agent dựng prompt từ các chunk top-k và yêu cầu mô hình chỉ trả lời dựa trên context được cung cấp.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So sánh chiến lược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Nhóm thử nhiều cách tách văn bản trên cùng corpus.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60604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188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22199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FixedSizeChunker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Dễ kiểm soát số lượng, nhưng có thể cắt ngang câu hoặc bảng.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417320"/>
            <a:ext cx="260604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417320"/>
            <a:ext cx="73152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13048" y="1563624"/>
            <a:ext cx="222199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SentenceChunker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Giữ ranh giới câu tốt, preview dễ đọc nhưng độ dài không đều.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417320"/>
            <a:ext cx="260604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37960" y="1417320"/>
            <a:ext cx="73152" cy="118872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9128" y="1563624"/>
            <a:ext cx="222199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RecursiveChunker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Cân bằng tốt giữa độ dài chunk và ngữ cảnh theo đoạn/mục.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417320"/>
            <a:ext cx="20574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64040" y="1417320"/>
            <a:ext cx="73152" cy="11887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65208" y="1563624"/>
            <a:ext cx="16733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HeadingChunker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Dễ truy vết section, nhưng tạo nhiều chunk hơn.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346704"/>
            <a:ext cx="16459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B45309"/>
                </a:solidFill>
                <a:latin typeface="Arial"/>
              </a:rPr>
              <a:t>42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fixed-size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2461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346704"/>
            <a:ext cx="16459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463EB"/>
                </a:solidFill>
                <a:latin typeface="Arial"/>
              </a:rPr>
              <a:t>33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sentence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2461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346704"/>
            <a:ext cx="16459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28B54"/>
                </a:solidFill>
                <a:latin typeface="Arial"/>
              </a:rPr>
              <a:t>44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recursive chunks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2461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23960" y="3346704"/>
            <a:ext cx="16459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81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heading chunks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33272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rial"/>
              </a:rPr>
              <a:t>Kết luận nhóm: HeadingChunker dễ giải thích nhất trong demo; RecursiveChunker thực tế hơn nếu cần cân bằng chất lượng và số chunk.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rial"/>
              </a:rPr>
              <a:t>Cả 4 chiến lược đều đạt 10/10 trên benchmark hiện tại.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Triển khai chính trong src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Các module cốt lõi được kiểm thử độc lập.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9184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3258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29077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src/chunking.py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Fixed-size, sentence và recursive chunking; xử lý input rỗng, overlap và fallback khi text dài.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32588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472184"/>
            <a:ext cx="29077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src/store.py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In-memory vector store: add_documents, search, search_with_filter, delete_document.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29184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83879" y="1325880"/>
            <a:ext cx="73152" cy="132588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472184"/>
            <a:ext cx="29077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src/agent.py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KnowledgeBaseAgent truy xuất top-k, dựng context có nguồn và gọi llm_fn để trả lời.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516636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Similarity dùng cosine/dot product trên embedding đã chuẩn hóa.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Metadata filter lọc candidate trước khi search.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delete_document xóa mọi chunk thuộc cùng doc_id.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GeminiEmbedder được dùng cho kiểm thử embedding thật.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46120"/>
            <a:ext cx="4754880" cy="155448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3246120"/>
            <a:ext cx="73152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3392424"/>
            <a:ext cx="43708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Thiết kế an toàn cho RAG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Agent được nhắc chỉ dùng context đã truy xuất và nói rõ khi không tìm thấy dữ liệu phù hợp, tránh suy diễn ngoài tài liệu.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Kết quả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Bộ test tự động xác nhận các checkpoint cốt lõi.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82880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28B54"/>
                </a:solidFill>
                <a:latin typeface="Arial"/>
              </a:rPr>
              <a:t>42/42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tests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417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1517904"/>
            <a:ext cx="182880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463EB"/>
                </a:solidFill>
                <a:latin typeface="Arial"/>
              </a:rPr>
              <a:t>CP1-CP6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hoàn thiện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41732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1517904"/>
            <a:ext cx="182880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10/10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93776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Project structure và class interface đạt yêu cầu.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Chunker xử lý size, overlap, câu, separator và trường hợp rỗng.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EmbeddingStore search đúng top-k, score giảm dần và lọc metadata.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Agent trả lời string không rỗng và dùng context truy xuất.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14600"/>
            <a:ext cx="5257800" cy="3175852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Kết quả chạy thực tế với Gemini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Sử dụng gemini-embedding-001 để kiểm tra similarity và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7373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28B54"/>
                </a:solidFill>
                <a:latin typeface="Arial"/>
              </a:rPr>
              <a:t>0.8418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học phí tương tự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1732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517904"/>
            <a:ext cx="17373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28B54"/>
                </a:solidFill>
                <a:latin typeface="Arial"/>
              </a:rPr>
              <a:t>0.8151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nghỉ phép tương tự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1732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517904"/>
            <a:ext cx="17373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C41230"/>
                </a:solidFill>
                <a:latin typeface="Arial"/>
              </a:rPr>
              <a:t>5/5</a:t>
            </a:r>
          </a:p>
          <a:p>
            <a:pPr algn="ctr"/>
            <a:r>
              <a:rPr sz="950" b="0">
                <a:solidFill>
                  <a:srgbClr val="67748E"/>
                </a:solidFill>
                <a:latin typeface="Arial"/>
              </a:rPr>
              <a:t>top-3 relevant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280160"/>
            <a:ext cx="379476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1280160"/>
            <a:ext cx="73152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3528" y="1426464"/>
            <a:ext cx="341071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Điểm bất ngờ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Các cặp khác chủ đề vẫn đạt 0.66-0.68 vì cùng miền chính sách đại học.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332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</a:pPr>
            <a:r>
              <a:rPr sz="1350" b="0">
                <a:solidFill>
                  <a:srgbClr val="2D3748"/>
                </a:solidFill>
                <a:latin typeface="Arial"/>
              </a:rPr>
              <a:t>Q1: top-1 chinh-sach-hoc-phi-rmit#10, score 0.8311, chứa phương thức thanh toán.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2D3748"/>
                </a:solidFill>
                <a:latin typeface="Arial"/>
              </a:rPr>
              <a:t>Q2: top-1 chinh-sach-hoc-phi-dac-biet#1, score 0.8381, trả lời chiết khấu 5%.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2D3748"/>
                </a:solidFill>
                <a:latin typeface="Arial"/>
              </a:rPr>
              <a:t>Q3: top-1 hoc-bong-rmit-vietnam#0, score 0.7990, trả lời hơn 613 tỉ đồng cho hơn 1.900 bạn trẻ.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2D3748"/>
                </a:solidFill>
                <a:latin typeface="Arial"/>
              </a:rPr>
              <a:t>Q4: top-1 đúng tài liệu nhưng đáp án chi tiết nằm ở top-2; cần đánh giá nội dung chunk, không chỉ score.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2D3748"/>
                </a:solidFill>
                <a:latin typeface="Arial"/>
              </a:rPr>
              <a:t>Q5: top-1 quy-trinh-khieu-nai-rmit#1, score 0.7762, chứa cổng thông tin khiếu nại.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02A"/>
                </a:solidFill>
                <a:latin typeface="Arial"/>
              </a:rPr>
              <a:t>Bài học &amp; hướng cải thiện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7748E"/>
                </a:solidFill>
                <a:latin typeface="Arial"/>
              </a:rPr>
              <a:t>Những điểm rút ra sau khi hoàn thiện toàn bộ lab.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29077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Bài học 1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Chunk đúng section giúp câu trả lời dễ kiểm chứng và dễ trình bày hơn trong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563624"/>
            <a:ext cx="29077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Bài học 2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Score cao chưa chắc top-1 chứa đáp án chi tiết; phải đọc chunk và xét top-3.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2918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73152" cy="141732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563624"/>
            <a:ext cx="29077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Bài học 3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Metadata filter hữu ích, nhưng benchmark cần câu hỏi mơ hồ hơn để thấy tác dụng rõ.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50292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Nếu làm lại: thêm cặp tài liệu có cùng chủ đề nhưng khác audience.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Làm sạch bảng dài để chunk ít nhiễu hơn.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2D3748"/>
                </a:solidFill>
                <a:latin typeface="Arial"/>
              </a:rPr>
              <a:t>Kết hợp HeadingChunker cho demo và RecursiveChunker cho vận hành cân bằng.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657600"/>
            <a:ext cx="452628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3657600"/>
            <a:ext cx="73152" cy="12344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0568" y="3803904"/>
            <a:ext cx="414223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202A"/>
                </a:solidFill>
                <a:latin typeface="Arial"/>
              </a:rPr>
              <a:t>Kết luận</a:t>
            </a:r>
          </a:p>
          <a:p>
            <a:r>
              <a:rPr sz="1150" b="0">
                <a:solidFill>
                  <a:srgbClr val="2D3748"/>
                </a:solidFill>
                <a:latin typeface="Arial"/>
              </a:rPr>
              <a:t>Hệ thống đã hoàn thiện pipeline RAG nhỏ, có nguồn dữ liệu rõ ràng, test đầy đủ và đánh giá bằng embedding thật.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7748E"/>
                </a:solidFill>
                <a:latin typeface="Arial"/>
              </a:rPr>
              <a:t>Lab 7: Embedding &amp; Vector Store | Nhóm C3D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7748E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1113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Doan</cp:lastModifiedBy>
  <cp:revision>2</cp:revision>
  <dcterms:created xsi:type="dcterms:W3CDTF">2013-01-27T09:14:16Z</dcterms:created>
  <dcterms:modified xsi:type="dcterms:W3CDTF">2026-09-19T10:42:12Z</dcterms:modified>
  <cp:category/>
</cp:coreProperties>
</file>